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937760"/>
            <a:ext cx="2377440" cy="2377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PROGRAM  ·  AI &amp; ML  ·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Fake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Detection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Real vs. Fake News Articles with Machine Learning &amp; NLP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Indian Institute of Computing and Technology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Project-1 · Text Classification Pipeline for Real vs. Fake News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Fake News Detection?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digital misinformation has outgrown manual review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Spread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propagates across social media faster than fact-checkers can respond.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063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Scale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4290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new articles are published daily — manual verification cannot keep 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Defense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8463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NLP pipelines can flag deceptive content within milliseconds, at scale.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78040" y="1691640"/>
            <a:ext cx="4434840" cy="4297680"/>
          </a:xfrm>
          <a:prstGeom prst="roundRect">
            <a:avLst>
              <a:gd name="adj" fmla="val 2128"/>
            </a:avLst>
          </a:prstGeom>
          <a:solidFill>
            <a:srgbClr val="F4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543800" y="205740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43800" y="274320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reads an article and automatically classifies it as Real or Fake — with high accuracy and no human intervention.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543800" y="4069080"/>
            <a:ext cx="3794760" cy="0"/>
          </a:xfrm>
          <a:prstGeom prst="line">
            <a:avLst/>
          </a:prstGeom>
          <a:noFill/>
          <a:ln w="12700">
            <a:solidFill>
              <a:srgbClr val="D8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42519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44,898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543800" y="49834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 analyzed in this project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· AI &amp; ML Internship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mix of real and fake news articles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5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44,898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6002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5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691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23,481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0" y="2331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(52%)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5F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91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21,417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 (48%)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used:  </a:t>
            </a:r>
            <a:pPr indent="0" marL="0">
              <a:buNone/>
            </a:pPr>
            <a:r>
              <a:rPr lang="en-US" sz="13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text content of each article (`text` column)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label:  </a:t>
            </a:r>
            <a:pPr indent="0" marL="0">
              <a:buNone/>
            </a:pPr>
            <a:r>
              <a:rPr lang="en-US" sz="13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Fake News,  1 = Real News (engineered variable)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 </a:t>
            </a:r>
            <a:pPr indent="0" marL="0">
              <a:buNone/>
            </a:pPr>
            <a:r>
              <a:rPr lang="en-US" sz="13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(35,918) / 20% testing (8,980 articles)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F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46320"/>
            <a:ext cx="5852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 originally curated for fake news detection research, combining labeled real and fake article collections into a single corpus for supervised classification.</a:t>
            </a:r>
            <a:endParaRPr lang="en-US" sz="1250" dirty="0"/>
          </a:p>
        </p:txBody>
      </p:sp>
      <p:pic>
        <p:nvPicPr>
          <p:cNvPr id="18" name="Image 0" descr="datas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600200"/>
            <a:ext cx="4251960" cy="35661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360920" y="51937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distribution: Fake vs. Real news counts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· AI &amp; ML Internship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AI Learn?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article text into a numerical signal a model can learn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text to lowercase vocabulary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BBD1"/>
                </a:solidFill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4F5FA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1945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hyperlinks using regular expressions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BBD1"/>
                </a:solidFill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4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Punctuation &amp; Digits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pure semantic word content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BBD1"/>
                </a:solidFill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9659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3F3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1160" y="21945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544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3544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word importance; top 5,000 features kept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E9EBF3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754880"/>
            <a:ext cx="8339328" cy="54864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54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 ·  35,918 articles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5256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8,980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57784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4F5F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7424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constraint:  </a:t>
            </a:r>
            <a:pPr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was capped at the 5,000 most significant terms to balance model accuracy against computational cost.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· AI &amp; ML Internship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Four Different Brains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parametric and non-parametric algorithms on the same TF-IDF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00200" y="240487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4048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an article by comparing it to its closest neighbors in feature space.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0644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0760" y="205740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2039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240487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4048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28803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linear decision boundary that separates fake from real vocabulary.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600200" y="45994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1600200" y="4599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· Non-Parametric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hundreds of decision trees to vote on the final classification.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0644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0760" y="42519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580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45994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599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50749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multi-layer perceptron that learns nonlinear patterns in word usage.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· AI &amp; ML Internship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the held-out 20% test set (8,980 articles)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863840" cy="2743200"/>
        </p:xfrm>
        <a:graphic>
          <a:graphicData uri="http://schemas.openxmlformats.org/drawingml/2006/table">
            <a:tbl>
              <a:tblPr/>
              <a:tblGrid>
                <a:gridCol w="2651760"/>
                <a:gridCol w="1303020"/>
                <a:gridCol w="1303020"/>
                <a:gridCol w="1303020"/>
                <a:gridCol w="13030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9D8F"/>
                          </a:solidFill>
                        </a:rPr>
                        <a:t>Random Forest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99.51%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99.62%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99.34%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99.48%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Neural Network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233"/>
                          </a:solidFill>
                        </a:rPr>
                        <a:t>98.75%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233"/>
                          </a:solidFill>
                        </a:rPr>
                        <a:t>98.76%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233"/>
                          </a:solidFill>
                        </a:rPr>
                        <a:t>98.62%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233"/>
                          </a:solidFill>
                        </a:rPr>
                        <a:t>98.69%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Logistic Regression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233"/>
                          </a:solidFill>
                        </a:rPr>
                        <a:t>98.33%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233"/>
                          </a:solidFill>
                        </a:rPr>
                        <a:t>97.84%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233"/>
                          </a:solidFill>
                        </a:rPr>
                        <a:t>98.67%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233"/>
                          </a:solidFill>
                        </a:rPr>
                        <a:t>98.25%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</a:rPr>
                        <a:t>K-Nearest Neighbors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70.76%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91.68%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42.34%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233"/>
                          </a:solidFill>
                        </a:rPr>
                        <a:t>57.93%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highest accuracy — roughly 44 misclassifications out of 8,980 test articles.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686800" y="1691640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FDEDED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0" y="1965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15400" y="297180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KNN's recall dropped to just 42.3% — it missed over half of the fake articles in the test set.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· AI &amp; ML Internship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the parametric models cluster near-perfect; KNN lags behind</a:t>
            </a:r>
            <a:endParaRPr lang="en-US" sz="1400" dirty="0"/>
          </a:p>
        </p:txBody>
      </p:sp>
      <p:pic>
        <p:nvPicPr>
          <p:cNvPr id="4" name="Image 0" descr="model_accurac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9494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Confusion Matrices Show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680960" y="2194560"/>
            <a:ext cx="73152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44 total misclassifications out of 8,980 — near-perfect separation.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3611880"/>
            <a:ext cx="73152" cy="1051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7"/>
          <p:cNvSpPr/>
          <p:nvPr/>
        </p:nvSpPr>
        <p:spPr>
          <a:xfrm>
            <a:off x="790956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&amp; LogReg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09560" y="3931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112 and 150 total errors respectively, with strong balance across both classes.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0" y="5029200"/>
            <a:ext cx="73152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09560" y="5349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2,630 total misclassifications (29% error rate) — distance metrics struggle in 5,000-dim TF-IDF space.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· AI &amp; ML Internship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 vs. Non-Parametric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philosophies for learning from high-dimensional TF-IDF text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Models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·  Neural Network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set number of weights and assume a distribution over the data.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exceeded 98% accuracy — evidence that the TF-IDF feature space is highly linearly separable.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Weight-based learning easily distinguishes fake vs. real vocabulary patterns.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5F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Models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32320" y="2423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 ·  Random Forest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no fixed assumptions — model complexity adapts to the training data.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(99.51%) was the best performer overall — its ensemble of trees handles sparse, high-dimensional data without overfitting.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(70.76%) was the weakest — the curse of dimensionality cripples distance-based methods at 5,000 features.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· AI &amp; ML Internship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8288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NLP can be powerfully leveraged to automate fake news detection — Random Forest delivered 99.51% accuracy, while Logistic Regression offered near-equal performance with far faster training.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263073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926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7452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3703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7033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vocabulary patterns from a static, historical dataset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45720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45720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struggle with new slang or entirely novel events without retraining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606040"/>
            <a:ext cx="5074920" cy="3291840"/>
          </a:xfrm>
          <a:prstGeom prst="roundRect">
            <a:avLst>
              <a:gd name="adj" fmla="val 2778"/>
            </a:avLst>
          </a:prstGeom>
          <a:solidFill>
            <a:srgbClr val="26307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926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3703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7033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web scraping to evaluate live news articles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5720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45720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transformer models (e.g. BERT) to capture context, not just word frequency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2026-07-13T10:51:02Z</dcterms:created>
  <dcterms:modified xsi:type="dcterms:W3CDTF">2026-07-13T10:51:02Z</dcterms:modified>
</cp:coreProperties>
</file>